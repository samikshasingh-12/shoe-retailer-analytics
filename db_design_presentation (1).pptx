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Q3kjBmjxQ+8Y/uhdftHUCbcMl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4965"/>
                </a:solidFill>
                <a:latin typeface="Trebuchet MS"/>
              </a:defRPr>
            </a:pPr>
            <a:r>
              <a:rPr lang="en-IN" sz="1200" b="0" i="0" u="none" strike="noStrike">
                <a:solidFill>
                  <a:srgbClr val="1B4965"/>
                </a:solidFill>
                <a:latin typeface="Trebuchet MS"/>
              </a:rPr>
              <a:t>Orders by Brand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B496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49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4A1-4A36-86B5-25810C608C02}"/>
              </c:ext>
            </c:extLst>
          </c:dPt>
          <c:dPt>
            <c:idx val="1"/>
            <c:invertIfNegative val="0"/>
            <c:bubble3D val="0"/>
            <c:spPr>
              <a:solidFill>
                <a:srgbClr val="3D7E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A1-4A36-86B5-25810C608C02}"/>
              </c:ext>
            </c:extLst>
          </c:dPt>
          <c:dPt>
            <c:idx val="2"/>
            <c:invertIfNegative val="0"/>
            <c:bubble3D val="0"/>
            <c:spPr>
              <a:solidFill>
                <a:srgbClr val="5BA3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4A1-4A36-86B5-25810C608C02}"/>
              </c:ext>
            </c:extLst>
          </c:dPt>
          <c:dPt>
            <c:idx val="3"/>
            <c:invertIfNegative val="0"/>
            <c:bubble3D val="0"/>
            <c:spPr>
              <a:solidFill>
                <a:srgbClr val="7CC0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4A1-4A36-86B5-25810C608C02}"/>
              </c:ext>
            </c:extLst>
          </c:dPt>
          <c:dPt>
            <c:idx val="4"/>
            <c:invertIfNegative val="0"/>
            <c:bubble3D val="0"/>
            <c:spPr>
              <a:solidFill>
                <a:srgbClr val="F484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4A1-4A36-86B5-25810C608C02}"/>
              </c:ext>
            </c:extLst>
          </c:dPt>
          <c:dPt>
            <c:idx val="5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4A1-4A36-86B5-25810C608C02}"/>
              </c:ext>
            </c:extLst>
          </c:dPt>
          <c:cat>
            <c:strRef>
              <c:f>Sheet1!$A$2:$A$7</c:f>
              <c:strCache>
                <c:ptCount val="6"/>
                <c:pt idx="0">
                  <c:v>ASICS</c:v>
                </c:pt>
                <c:pt idx="1">
                  <c:v>Reebok</c:v>
                </c:pt>
                <c:pt idx="2">
                  <c:v>Nike</c:v>
                </c:pt>
                <c:pt idx="3">
                  <c:v>New Balance</c:v>
                </c:pt>
                <c:pt idx="4">
                  <c:v>Adidas</c:v>
                </c:pt>
                <c:pt idx="5">
                  <c:v>Puma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5132</c:v>
                </c:pt>
                <c:pt idx="1">
                  <c:v>5026</c:v>
                </c:pt>
                <c:pt idx="2">
                  <c:v>5018</c:v>
                </c:pt>
                <c:pt idx="3">
                  <c:v>4982</c:v>
                </c:pt>
                <c:pt idx="4">
                  <c:v>4918</c:v>
                </c:pt>
                <c:pt idx="5">
                  <c:v>4924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4A1-4A36-86B5-25810C608C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6B8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E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6B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4965"/>
                </a:solidFill>
                <a:latin typeface="Trebuchet MS"/>
              </a:defRPr>
            </a:pPr>
            <a:r>
              <a:rPr lang="en-IN" sz="1200" b="0" i="0" u="none" strike="noStrike">
                <a:solidFill>
                  <a:srgbClr val="1B4965"/>
                </a:solidFill>
                <a:latin typeface="Trebuchet MS"/>
              </a:rPr>
              <a:t>Orders by Category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9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F9F-4100-AE18-95B8E0C81E8A}"/>
              </c:ext>
            </c:extLst>
          </c:dPt>
          <c:dPt>
            <c:idx val="1"/>
            <c:bubble3D val="0"/>
            <c:spPr>
              <a:solidFill>
                <a:srgbClr val="3D7E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9F-4100-AE18-95B8E0C81E8A}"/>
              </c:ext>
            </c:extLst>
          </c:dPt>
          <c:dPt>
            <c:idx val="2"/>
            <c:bubble3D val="0"/>
            <c:spPr>
              <a:solidFill>
                <a:srgbClr val="5BA3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F9F-4100-AE18-95B8E0C81E8A}"/>
              </c:ext>
            </c:extLst>
          </c:dPt>
          <c:dPt>
            <c:idx val="3"/>
            <c:bubble3D val="0"/>
            <c:spPr>
              <a:solidFill>
                <a:srgbClr val="F484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F9F-4100-AE18-95B8E0C81E8A}"/>
              </c:ext>
            </c:extLst>
          </c:dPt>
          <c:dPt>
            <c:idx val="4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F9F-4100-AE18-95B8E0C81E8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F9F-4100-AE18-95B8E0C81E8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F9F-4100-AE18-95B8E0C81E8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F9F-4100-AE18-95B8E0C81E8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F9F-4100-AE18-95B8E0C81E8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F9F-4100-AE18-95B8E0C81E8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Running</c:v>
                </c:pt>
                <c:pt idx="1">
                  <c:v>Lifestyle</c:v>
                </c:pt>
                <c:pt idx="2">
                  <c:v>Basketball</c:v>
                </c:pt>
                <c:pt idx="3">
                  <c:v>Training</c:v>
                </c:pt>
                <c:pt idx="4">
                  <c:v>Gym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5983</c:v>
                </c:pt>
                <c:pt idx="1">
                  <c:v>6059</c:v>
                </c:pt>
                <c:pt idx="2">
                  <c:v>6074</c:v>
                </c:pt>
                <c:pt idx="3">
                  <c:v>6018</c:v>
                </c:pt>
                <c:pt idx="4">
                  <c:v>5866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F9F-4100-AE18-95B8E0C81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D6B8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Relationship Id="rId7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1097280" y="914400"/>
            <a:ext cx="6949440" cy="1137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PROPOSAL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2718612" y="1731597"/>
            <a:ext cx="3291840" cy="502920"/>
          </a:xfrm>
          <a:prstGeom prst="roundRect">
            <a:avLst>
              <a:gd fmla="val 36364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2718612" y="1713828"/>
            <a:ext cx="329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Sports Footwear  </a:t>
            </a:r>
            <a:b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Retailer Analytics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6B8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 ILS-Z511 Database Design</a:t>
            </a:r>
            <a:r>
              <a:rPr lang="en-US" sz="130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   (Spring 2026)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3634548" y="2625633"/>
            <a:ext cx="1590596" cy="772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6B8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Group Members</a:t>
            </a:r>
            <a:r>
              <a:rPr lang="en-US" sz="130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D6B8E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Samiksha Singh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D6B8E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Dhruvil Joshi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D6B8E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Sudha Swain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D6B8E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Abhijeet Thorat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PRESENTATION OVERVIEW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457200" y="1005840"/>
            <a:ext cx="8229600" cy="804672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685800" y="1133856"/>
            <a:ext cx="548640" cy="548640"/>
          </a:xfrm>
          <a:prstGeom prst="ellipse">
            <a:avLst/>
          </a:prstGeom>
          <a:solidFill>
            <a:srgbClr val="5BA3D1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" name="Google Shape;2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501" y="1254557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1417320" y="1196035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D1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5BA3D1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1965960" y="1069848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Community &amp; Population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965960" y="1435608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B8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Sports footwear brands &amp; retailers in the global marketplace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1965960"/>
            <a:ext cx="8229600" cy="804672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85800" y="2093976"/>
            <a:ext cx="548640" cy="548640"/>
          </a:xfrm>
          <a:prstGeom prst="ellipse">
            <a:avLst/>
          </a:prstGeom>
          <a:solidFill>
            <a:srgbClr val="1B4965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501" y="2214677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1417320" y="217627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D1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5BA3D1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965960" y="2029968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Overview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965960" y="2395728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B8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30,000+ transactions across 6 brands, 5 categories, 6 countries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2926080"/>
            <a:ext cx="8229600" cy="804672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85800" y="3054096"/>
            <a:ext cx="548640" cy="548640"/>
          </a:xfrm>
          <a:prstGeom prst="ellipse">
            <a:avLst/>
          </a:prstGeom>
          <a:solidFill>
            <a:srgbClr val="5BA3D1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501" y="3174797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1388059" y="3116275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D1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5BA3D1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965960" y="2990088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Problems Addressed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965960" y="3355848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B8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Pricing strategy, revenue performance &amp; customer behaviour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3886200"/>
            <a:ext cx="8229600" cy="804672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85800" y="4014216"/>
            <a:ext cx="548640" cy="548640"/>
          </a:xfrm>
          <a:prstGeom prst="ellipse">
            <a:avLst/>
          </a:prstGeom>
          <a:solidFill>
            <a:srgbClr val="F4845F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501" y="4134917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1417320" y="4076395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D1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5BA3D1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965960" y="3950208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Ethics &amp; Privacy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965960" y="4315968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B8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Responsible data handling and aggregate-only reporting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457200" y="228600"/>
            <a:ext cx="502920" cy="347472"/>
          </a:xfrm>
          <a:prstGeom prst="roundRect">
            <a:avLst>
              <a:gd fmla="val 21053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22860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097280" y="1828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COMMUNITY &amp; POPULATION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097280" y="5943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B8E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Sports footwear brands and retailers operating in the global marketplace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65760" y="1051560"/>
            <a:ext cx="4023360" cy="320040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65760" y="1051560"/>
            <a:ext cx="4023360" cy="50292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65735" y="1051510"/>
            <a:ext cx="4023300" cy="640200"/>
          </a:xfrm>
          <a:prstGeom prst="roundRect">
            <a:avLst>
              <a:gd fmla="val 21429" name="adj"/>
            </a:avLst>
          </a:prstGeom>
          <a:solidFill>
            <a:srgbClr val="1B496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1430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1051560" y="112471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Sports Footwear Brands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40080" y="1965960"/>
            <a:ext cx="3474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B4965"/>
                </a:solidFill>
                <a:latin typeface="Calibri"/>
                <a:ea typeface="Calibri"/>
                <a:cs typeface="Calibri"/>
                <a:sym typeface="Calibri"/>
              </a:rPr>
              <a:t>Nike, Adidas, Puma, Reebok, ASICS, New Balance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Set wholesale pricing &amp; seasonal discount strategies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Monitor product category performance &amp; customer satisfaction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Allocate marketing &amp; production budgets across geographies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709160" y="1051560"/>
            <a:ext cx="4023360" cy="320040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709123" y="1051510"/>
            <a:ext cx="4023300" cy="640200"/>
          </a:xfrm>
          <a:prstGeom prst="roundRect">
            <a:avLst>
              <a:gd fmla="val 21429" name="adj"/>
            </a:avLst>
          </a:prstGeom>
          <a:solidFill>
            <a:srgbClr val="5BA3D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3480" y="11430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5394960" y="112471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Retailers &amp; Platforms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983480" y="1965960"/>
            <a:ext cx="3474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B4965"/>
                </a:solidFill>
                <a:latin typeface="Calibri"/>
                <a:ea typeface="Calibri"/>
                <a:cs typeface="Calibri"/>
                <a:sym typeface="Calibri"/>
              </a:rPr>
              <a:t>Retail chains, independent stores &amp; online platforms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Determine promotional pricing market-by-market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Manage inventory across 5 categories (Running, Training, Basketball, Lifestyle, Gym)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Identify income segments driving revenue per channel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9ABF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A9ABF"/>
                </a:solidFill>
                <a:latin typeface="Calibri"/>
                <a:ea typeface="Calibri"/>
                <a:cs typeface="Calibri"/>
                <a:sym typeface="Calibri"/>
              </a:rPr>
              <a:t>Both groups form a unified community - brand pricing decisions directly constrain and inform retailer decisions.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457200" y="228600"/>
            <a:ext cx="502920" cy="347472"/>
          </a:xfrm>
          <a:prstGeom prst="roundRect">
            <a:avLst>
              <a:gd fmla="val 21053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57200" y="22860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97280" y="20116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OVERVIEW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097280" y="61264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B8E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Source: Kaggle - Global Sports Footwear Sales (2018-2026)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65760" y="1005840"/>
            <a:ext cx="1920240" cy="1051560"/>
          </a:xfrm>
          <a:prstGeom prst="roundRect">
            <a:avLst>
              <a:gd fmla="val 10435" name="adj"/>
            </a:avLst>
          </a:prstGeom>
          <a:solidFill>
            <a:srgbClr val="1B4965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65760" y="107899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30,000+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65760" y="162763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D9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8D9F0"/>
                </a:solidFill>
                <a:latin typeface="Calibri"/>
                <a:ea typeface="Calibri"/>
                <a:cs typeface="Calibri"/>
                <a:sym typeface="Calibri"/>
              </a:rPr>
              <a:t>Transactions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514600" y="1005840"/>
            <a:ext cx="1920240" cy="1051560"/>
          </a:xfrm>
          <a:prstGeom prst="roundRect">
            <a:avLst>
              <a:gd fmla="val 10435" name="adj"/>
            </a:avLst>
          </a:prstGeom>
          <a:solidFill>
            <a:srgbClr val="5BA3D1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2514600" y="107899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18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514600" y="162763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D9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8D9F0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663440" y="1005840"/>
            <a:ext cx="1920240" cy="1051560"/>
          </a:xfrm>
          <a:prstGeom prst="roundRect">
            <a:avLst>
              <a:gd fmla="val 10435" name="adj"/>
            </a:avLst>
          </a:prstGeom>
          <a:solidFill>
            <a:srgbClr val="1B4965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663440" y="107899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663440" y="162763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D9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8D9F0"/>
                </a:solidFill>
                <a:latin typeface="Calibri"/>
                <a:ea typeface="Calibri"/>
                <a:cs typeface="Calibri"/>
                <a:sym typeface="Calibri"/>
              </a:rPr>
              <a:t>Global Brands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812280" y="1005840"/>
            <a:ext cx="1920240" cy="1051560"/>
          </a:xfrm>
          <a:prstGeom prst="roundRect">
            <a:avLst>
              <a:gd fmla="val 10435" name="adj"/>
            </a:avLst>
          </a:prstGeom>
          <a:solidFill>
            <a:srgbClr val="5BA3D1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812280" y="107899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812280" y="162763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D9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8D9F0"/>
                </a:solidFill>
                <a:latin typeface="Calibri"/>
                <a:ea typeface="Calibri"/>
                <a:cs typeface="Calibri"/>
                <a:sym typeface="Calibri"/>
              </a:rPr>
              <a:t>Countries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22860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Key Attributes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65760" y="2651760"/>
            <a:ext cx="8412480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40080" y="27889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D1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BA3D1"/>
                </a:solidFill>
                <a:latin typeface="Consolas"/>
                <a:ea typeface="Consolas"/>
                <a:cs typeface="Consolas"/>
                <a:sym typeface="Consolas"/>
              </a:rPr>
              <a:t>order_id, order_date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40080" y="32004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D1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BA3D1"/>
                </a:solidFill>
                <a:latin typeface="Consolas"/>
                <a:ea typeface="Consolas"/>
                <a:cs typeface="Consolas"/>
                <a:sym typeface="Consolas"/>
              </a:rPr>
              <a:t>brand, model_name, category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40080" y="3611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D1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BA3D1"/>
                </a:solidFill>
                <a:latin typeface="Consolas"/>
                <a:ea typeface="Consolas"/>
                <a:cs typeface="Consolas"/>
                <a:sym typeface="Consolas"/>
              </a:rPr>
              <a:t>gender, size, color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40080" y="40233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D1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BA3D1"/>
                </a:solidFill>
                <a:latin typeface="Consolas"/>
                <a:ea typeface="Consolas"/>
                <a:cs typeface="Consolas"/>
                <a:sym typeface="Consolas"/>
              </a:rPr>
              <a:t>base_price_usd, discount_percent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754880" y="27889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D1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BA3D1"/>
                </a:solidFill>
                <a:latin typeface="Consolas"/>
                <a:ea typeface="Consolas"/>
                <a:cs typeface="Consolas"/>
                <a:sym typeface="Consolas"/>
              </a:rPr>
              <a:t>final_price_usd, units_sold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754880" y="32004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D1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BA3D1"/>
                </a:solidFill>
                <a:latin typeface="Consolas"/>
                <a:ea typeface="Consolas"/>
                <a:cs typeface="Consolas"/>
                <a:sym typeface="Consolas"/>
              </a:rPr>
              <a:t>revenue_usd, payment_method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754880" y="3611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D1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BA3D1"/>
                </a:solidFill>
                <a:latin typeface="Consolas"/>
                <a:ea typeface="Consolas"/>
                <a:cs typeface="Consolas"/>
                <a:sym typeface="Consolas"/>
              </a:rPr>
              <a:t>sales_channel, country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754880" y="40233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D1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BA3D1"/>
                </a:solidFill>
                <a:latin typeface="Consolas"/>
                <a:ea typeface="Consolas"/>
                <a:cs typeface="Consolas"/>
                <a:sym typeface="Consolas"/>
              </a:rPr>
              <a:t>customer_income_level, customer_rating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4"/>
          <p:cNvCxnSpPr/>
          <p:nvPr/>
        </p:nvCxnSpPr>
        <p:spPr>
          <a:xfrm>
            <a:off x="4572000" y="2788920"/>
            <a:ext cx="0" cy="1554480"/>
          </a:xfrm>
          <a:prstGeom prst="straightConnector1">
            <a:avLst/>
          </a:prstGeom>
          <a:noFill/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/>
          <p:nvPr/>
        </p:nvSpPr>
        <p:spPr>
          <a:xfrm>
            <a:off x="457200" y="228600"/>
            <a:ext cx="502920" cy="347472"/>
          </a:xfrm>
          <a:prstGeom prst="roundRect">
            <a:avLst>
              <a:gd fmla="val 21053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57200" y="22860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097280" y="20116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AT A GLANCE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8" name="Google Shape;108;p5"/>
          <p:cNvGraphicFramePr/>
          <p:nvPr/>
        </p:nvGraphicFramePr>
        <p:xfrm>
          <a:off x="182880" y="777240"/>
          <a:ext cx="4389120" cy="310896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id="109" name="Google Shape;109;p5"/>
          <p:cNvGraphicFramePr/>
          <p:nvPr/>
        </p:nvGraphicFramePr>
        <p:xfrm>
          <a:off x="4754880" y="777240"/>
          <a:ext cx="4206240" cy="310896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10" name="Google Shape;110;p5"/>
          <p:cNvSpPr/>
          <p:nvPr/>
        </p:nvSpPr>
        <p:spPr>
          <a:xfrm>
            <a:off x="365760" y="4114800"/>
            <a:ext cx="8412480" cy="59436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6B8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Geographic Coverage: USA, UK, Germany, India, UAE, Pakistan   |   Channels: Online &amp; Retail Store   |   Income Levels: Low, Medium, High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457200" y="228600"/>
            <a:ext cx="502920" cy="347472"/>
          </a:xfrm>
          <a:prstGeom prst="roundRect">
            <a:avLst>
              <a:gd fmla="val 21053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22860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097280" y="20116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CHEN ER DIAGRAM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097280" y="61264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B8E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Entity-Relationship Model for the Global Sports Footwear Retailer Database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274320" y="914400"/>
            <a:ext cx="8595360" cy="3886200"/>
          </a:xfrm>
          <a:prstGeom prst="roundRect">
            <a:avLst>
              <a:gd fmla="val 2824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6"/>
          <p:cNvPicPr preferRelativeResize="0"/>
          <p:nvPr/>
        </p:nvPicPr>
        <p:blipFill rotWithShape="1">
          <a:blip r:embed="rId4">
            <a:alphaModFix/>
          </a:blip>
          <a:srcRect b="10757" l="20000" r="20588" t="10757"/>
          <a:stretch/>
        </p:blipFill>
        <p:spPr>
          <a:xfrm>
            <a:off x="1175658" y="914400"/>
            <a:ext cx="6907945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457200" y="182880"/>
            <a:ext cx="502920" cy="347472"/>
          </a:xfrm>
          <a:prstGeom prst="roundRect">
            <a:avLst>
              <a:gd fmla="val 21053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7200" y="1828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097280" y="164592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1: PRICING STRATEGY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B8E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Retailers often apply blanket discount policies without evidence of whether discounts drive incremental revenue or erode margin.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20040" y="1051560"/>
            <a:ext cx="402336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02920" y="1216152"/>
            <a:ext cx="457200" cy="457200"/>
          </a:xfrm>
          <a:prstGeom prst="ellipse">
            <a:avLst/>
          </a:prstGeom>
          <a:solidFill>
            <a:srgbClr val="1B4965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504" y="13167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1097280" y="1252728"/>
            <a:ext cx="384048" cy="292608"/>
          </a:xfrm>
          <a:prstGeom prst="roundRect">
            <a:avLst>
              <a:gd fmla="val 18750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097280" y="1252728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600200" y="121615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Discount Depth vs. Revenue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02920" y="16916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Finding the point where discounting helps vs. hurts total revenue.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617720" y="1051560"/>
            <a:ext cx="402336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800600" y="1216152"/>
            <a:ext cx="457200" cy="457200"/>
          </a:xfrm>
          <a:prstGeom prst="ellipse">
            <a:avLst/>
          </a:prstGeom>
          <a:solidFill>
            <a:srgbClr val="5BA3D1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1184" y="13167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/>
          <p:nvPr/>
        </p:nvSpPr>
        <p:spPr>
          <a:xfrm>
            <a:off x="5394960" y="1252728"/>
            <a:ext cx="384048" cy="292608"/>
          </a:xfrm>
          <a:prstGeom prst="roundRect">
            <a:avLst>
              <a:gd fmla="val 18750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394960" y="1252728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897880" y="121615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Brand Price Sensitivity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800600" y="16916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Which brands need discounts to sell, and which sell well at full price?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20040" y="2834640"/>
            <a:ext cx="402336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02920" y="2999232"/>
            <a:ext cx="457200" cy="457200"/>
          </a:xfrm>
          <a:prstGeom prst="ellipse">
            <a:avLst/>
          </a:prstGeom>
          <a:solidFill>
            <a:srgbClr val="1B4965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504" y="30998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1097280" y="3035808"/>
            <a:ext cx="384048" cy="292608"/>
          </a:xfrm>
          <a:prstGeom prst="roundRect">
            <a:avLst>
              <a:gd fmla="val 18750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097280" y="3035808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600200" y="299923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Category Discount Effectiveness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02920" y="347472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Does discounting work equally across Running, Basketball, Lifestyle, Training, Gym?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617720" y="2834640"/>
            <a:ext cx="402336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800600" y="2999232"/>
            <a:ext cx="457200" cy="457200"/>
          </a:xfrm>
          <a:prstGeom prst="ellipse">
            <a:avLst/>
          </a:prstGeom>
          <a:solidFill>
            <a:srgbClr val="5BA3D1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01184" y="30998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5394960" y="3035808"/>
            <a:ext cx="384048" cy="292608"/>
          </a:xfrm>
          <a:prstGeom prst="roundRect">
            <a:avLst>
              <a:gd fmla="val 18750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394960" y="3035808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897880" y="2999232"/>
            <a:ext cx="251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Channel-Specific Pricing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800600" y="347472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Should discounts be concentrated online or in-store?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457200" y="182880"/>
            <a:ext cx="502920" cy="347472"/>
          </a:xfrm>
          <a:prstGeom prst="roundRect">
            <a:avLst>
              <a:gd fmla="val 21053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57200" y="1828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97280" y="164592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2: CUSTOMER BEHAVIOUR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3D6B8E"/>
                </a:solidFill>
                <a:latin typeface="Calibri"/>
                <a:ea typeface="Calibri"/>
                <a:cs typeface="Calibri"/>
                <a:sym typeface="Calibri"/>
              </a:rPr>
              <a:t>Helping Retailers &amp; Manufacturers understand Customer Behaviors and optimize their strategy based on analysis</a:t>
            </a:r>
            <a:endParaRPr i="1" sz="1100">
              <a:solidFill>
                <a:srgbClr val="3D6B8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20040" y="1051560"/>
            <a:ext cx="402336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02920" y="1216152"/>
            <a:ext cx="457200" cy="457200"/>
          </a:xfrm>
          <a:prstGeom prst="ellipse">
            <a:avLst/>
          </a:prstGeom>
          <a:solidFill>
            <a:srgbClr val="5BA3D1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504" y="13167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1097280" y="1252728"/>
            <a:ext cx="384048" cy="292608"/>
          </a:xfrm>
          <a:prstGeom prst="roundRect">
            <a:avLst>
              <a:gd fmla="val 18750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097280" y="1252728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600200" y="121615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Loyalty</a:t>
            </a:r>
            <a:r>
              <a:rPr b="1" lang="en-US" sz="13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 Patterns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02920" y="16916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Analyze customer’s loyalty towards brands, and their purchasing decision towards brand regardless of the pricing </a:t>
            </a:r>
            <a:endParaRPr sz="1050">
              <a:solidFill>
                <a:srgbClr val="1B3A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rgbClr val="1B3A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617720" y="1051560"/>
            <a:ext cx="402336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800600" y="1216152"/>
            <a:ext cx="457200" cy="457200"/>
          </a:xfrm>
          <a:prstGeom prst="ellipse">
            <a:avLst/>
          </a:prstGeom>
          <a:solidFill>
            <a:srgbClr val="F4845F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1184" y="13167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/>
          <p:nvPr/>
        </p:nvSpPr>
        <p:spPr>
          <a:xfrm>
            <a:off x="5394960" y="1252728"/>
            <a:ext cx="384048" cy="292608"/>
          </a:xfrm>
          <a:prstGeom prst="roundRect">
            <a:avLst>
              <a:gd fmla="val 18750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394960" y="1252728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897880" y="121615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Satisfaction Drivers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800600" y="16916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Identify which combinations of products which consistently produce high customer satisfaction </a:t>
            </a:r>
            <a:endParaRPr sz="1050">
              <a:solidFill>
                <a:srgbClr val="1B3A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rgbClr val="1B3A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320040" y="2834640"/>
            <a:ext cx="402336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02920" y="2999232"/>
            <a:ext cx="457200" cy="457200"/>
          </a:xfrm>
          <a:prstGeom prst="ellipse">
            <a:avLst/>
          </a:prstGeom>
          <a:solidFill>
            <a:srgbClr val="1B4965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504" y="30998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/>
          <p:nvPr/>
        </p:nvSpPr>
        <p:spPr>
          <a:xfrm>
            <a:off x="1097280" y="3035808"/>
            <a:ext cx="384048" cy="292608"/>
          </a:xfrm>
          <a:prstGeom prst="roundRect">
            <a:avLst>
              <a:gd fmla="val 18750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097280" y="3035808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600200" y="299923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Geography &amp; Demand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02920" y="347472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Understanding where the demand is strongest, which markets to prioritize and what to stock per region</a:t>
            </a:r>
            <a:endParaRPr sz="1050">
              <a:solidFill>
                <a:srgbClr val="1B3A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rgbClr val="1B3A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617720" y="2834640"/>
            <a:ext cx="402336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800600" y="2999232"/>
            <a:ext cx="457200" cy="457200"/>
          </a:xfrm>
          <a:prstGeom prst="ellipse">
            <a:avLst/>
          </a:prstGeom>
          <a:solidFill>
            <a:srgbClr val="5BA3D1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" name="Google Shape;19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01184" y="30998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/>
          <p:nvPr/>
        </p:nvSpPr>
        <p:spPr>
          <a:xfrm>
            <a:off x="5394960" y="3035808"/>
            <a:ext cx="384048" cy="292608"/>
          </a:xfrm>
          <a:prstGeom prst="roundRect">
            <a:avLst>
              <a:gd fmla="val 18750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394960" y="3035808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897880" y="299923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Payment Method Signals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800600" y="347472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how customers pay reveal anything about who they are and how much they spend? Allowing retailers to plan specific offers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rgbClr val="1B3A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457200" y="228600"/>
            <a:ext cx="502920" cy="347472"/>
          </a:xfrm>
          <a:prstGeom prst="roundRect">
            <a:avLst>
              <a:gd fmla="val 21053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57200" y="22860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097280" y="20116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ETHICS &amp; PRIVACY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8869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/>
          <p:nvPr/>
        </p:nvSpPr>
        <p:spPr>
          <a:xfrm>
            <a:off x="1097280" y="822960"/>
            <a:ext cx="7406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While this dataset is synthetic and privacy-safe, its patterns mirror real-world behaviors and must be handled with the same ethical care as actual user data.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365760" y="1691640"/>
            <a:ext cx="3977640" cy="128016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48640" y="1856232"/>
            <a:ext cx="438912" cy="438912"/>
          </a:xfrm>
          <a:prstGeom prst="ellipse">
            <a:avLst/>
          </a:prstGeom>
          <a:solidFill>
            <a:srgbClr val="5BA3D1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" name="Google Shape;20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201" y="195279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/>
          <p:nvPr/>
        </p:nvSpPr>
        <p:spPr>
          <a:xfrm>
            <a:off x="1143000" y="1828800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Masking Sensitive Attributes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48640" y="2258568"/>
            <a:ext cx="3611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Income level and customer rating stored in restricted-access tables with role-based controls. Column-level encryption in production.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617720" y="1691640"/>
            <a:ext cx="3977640" cy="128016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800600" y="1856232"/>
            <a:ext cx="438912" cy="438912"/>
          </a:xfrm>
          <a:prstGeom prst="ellipse">
            <a:avLst/>
          </a:prstGeom>
          <a:solidFill>
            <a:srgbClr val="1B4965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7161" y="195279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/>
          <p:nvPr/>
        </p:nvSpPr>
        <p:spPr>
          <a:xfrm>
            <a:off x="5394960" y="1828800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No Personal Recommendations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800600" y="2258568"/>
            <a:ext cx="3611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Outputs inform pricing policy and inventory strategy at the product/market level - no individual consumer targeting.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365760" y="3200400"/>
            <a:ext cx="3977640" cy="128016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48640" y="3364992"/>
            <a:ext cx="438912" cy="438912"/>
          </a:xfrm>
          <a:prstGeom prst="ellipse">
            <a:avLst/>
          </a:prstGeom>
          <a:solidFill>
            <a:srgbClr val="5BA3D1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9" name="Google Shape;21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201" y="346155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/>
          <p:nvPr/>
        </p:nvSpPr>
        <p:spPr>
          <a:xfrm>
            <a:off x="1143000" y="3337560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Aggregate-Only Reporting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548640" y="3767328"/>
            <a:ext cx="3611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All analyses produce group-level summaries only. No individual transaction data is presented, preventing re-identification.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617720" y="3200400"/>
            <a:ext cx="3977640" cy="128016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B8D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800600" y="3364992"/>
            <a:ext cx="438912" cy="438912"/>
          </a:xfrm>
          <a:prstGeom prst="ellipse">
            <a:avLst/>
          </a:prstGeom>
          <a:solidFill>
            <a:srgbClr val="1B4965"/>
          </a:solidFill>
          <a:ln>
            <a:noFill/>
          </a:ln>
          <a:effectLst>
            <a:outerShdw blurRad="63500" rotWithShape="0" algn="bl" dir="8100000" dist="25400">
              <a:srgbClr val="1B4965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7161" y="346155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/>
          <p:nvPr/>
        </p:nvSpPr>
        <p:spPr>
          <a:xfrm>
            <a:off x="5394960" y="3337560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Restricted Use Scope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800600" y="3767328"/>
            <a:ext cx="3611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Findings scoped to pricing strategy and assortment planning. Extensions to personalised pricing or surveillance require separate ethical review.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/>
          <p:nvPr/>
        </p:nvSpPr>
        <p:spPr>
          <a:xfrm>
            <a:off x="914400" y="100584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965"/>
              </a:buClr>
              <a:buSzPts val="5000"/>
              <a:buFont typeface="Trebuchet MS"/>
              <a:buNone/>
            </a:pPr>
            <a:r>
              <a:rPr b="1" lang="en-US" sz="5000">
                <a:solidFill>
                  <a:srgbClr val="1B4965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YOU!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2743200" y="2560320"/>
            <a:ext cx="3657600" cy="502920"/>
          </a:xfrm>
          <a:prstGeom prst="roundRect">
            <a:avLst>
              <a:gd fmla="val 36364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2743200" y="25603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 &amp; Feedback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828800" y="333756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2026-03-12T03:54:13Z</dcterms:created>
  <dc:creator>Database Design Project Team</dc:creator>
</cp:coreProperties>
</file>